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68" r:id="rId20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</a:t>
            </a:r>
            <a:r>
              <a:rPr lang="en-IN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Exploratory Project (EP)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AML Surveillance Platform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Yug Middha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2310991378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Saubhagya Verma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Money laundering disguises illegally obtained funds as legitimate income, threatening the integrity of the global financial system.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rule-based AML systems generate excessive false positives and miss sophisticated laundering patterns.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presents a hybrid AML Compliance and Surveillance Platform combining regulatory heuristics with machine learning.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Built using PySpark, XGBoost, FastAPI, and SQLite for real-time transaction monitoring.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Detects the Placement, Layering, and Integration stages of money laundering as defined by FATF.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institutions process millions of transactions daily, making manual AML review infeasible.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 systems alone rely on fixed thresholds and are easily bypassed by structuring transactions just below reporting limits.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Pure ML models struggle with extreme class imbalance (under 0.2% laundering transactions) and lack explainability for regulators.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scalable, explainable system that flags suspicious transactions in real time and supports compliance officers with actionable alerts.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 a hybrid detection engine combining FATF-based heuristic rules with a trained XGBoost ML model.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 28+ behavioral, network, and statistical features from raw transaction data using PySpark and Pandas.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 composite 0-100 risk scoring engine with explainable risk factors.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an interactive compliance dashboard for alert triage, investigation, and SAR filing.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 the platform scales to 10M+ transactions and is deployable on AWS.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 Systems: fixed thresholds such as the $10,000 CTR rule; high false-positive rates and easily circumvented by structuring.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ML (Logistic Regression, Random Forest): better pattern recognition but poor performance under extreme class imbalance.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Graph-Based Approaches: detect circular routing and fan-in/fan-out patterns but are computationally expensive at scale.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(ANN): high accuracy potential but limited explainability and slower training on tabular data.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Gap: most solutions use either rules OR ML in isolation, not a fused, explainable hybrid approach - the motivation for this project.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hybrid AML surveillance platform fusing rule-based heuristics with an XGBoost ML classifier.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End-to-end pipeline: Data Ingestion -&gt; Feature Engineering (PySpark) -&gt; Hybrid Detection Engine -&gt; Risk Scoring -&gt; Alerts and SAR Management.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SQLite (WAL mode) backend for zero-configuration, low-latency storage.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FastAPI backend serving a real-time, interactive compliance dashboard.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Modular design allows independent scaling of ingestion, ML inference, and dashboard layers.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Ingestion Layer: raw transactions from the SAML-D benchmark dataset (9.5M+ rows) ingested via the pipeline module.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Engineering: PySpark ETL computes 28 engineered features covering velocity, fan-in/out, and structuring proximity.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Hybrid Detection Engine: Rules Engine and XGBoost ML Detector run in parallel on every transaction.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 Scorer: fuses rule and ML outputs into a single composite 0-100 risk score.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Storage Layer: SQLite database holding accounts, transactions, alerts, and SAR reports.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Layer: FastAPI backend serving the interactive compliance dashboard.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 Data and ML: PySpark, XGBoost, NumPy, Pandas.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 FastAPI, Uvicorn, Pydantic.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Database: SQLite 3 with Write-Ahead Logging (WAL) mode.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Frontend: HTML, CSS, and JavaScript with Vis.js for interactive money-flow graphs.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Docker, Docker Compose, and AWS (EC2 / ECS / S3) ready.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Version Control: Git.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 engineered dimensions extracted per transaction using PySpark window aggregations and Pandas vectorization.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Non-linear amount features: Log Amount and Log Amount Squared capture extreme-value tail risk.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Structuring Proximity: distance to the $10,000 CTR threshold; flags transactions between $8,500 and $9,999.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Velocity and Z-Score: measures how far a transaction deviates from a sender's historical average.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 Centrality: Fan-In/Fan-Out ratio identifies funnel (many senders, one receiver) and dispersal (one sender, many receivers) accounts.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Pipeline scales to 10M+ transactions, with a live stream simulator for real-time batch injection.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Detection Engine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FATF Heuristic Rules: Structuring/Smurfing ($8.5k-$9.99k), High-Risk Jurisdictions (Panama, Cayman Islands, UAE, Cyprus, Bahamas), High-Value Outliers (over $50,000), and Rapid Pass-Through Velocity.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 ML Model: an Ultra-Deep 600-Tree Enterprise Classifier trained on 400,000+ transaction samples.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Severe class imbalance handled via scale_pos_weight cost-sensitive loss.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threshold optimized on the Precision-Recall curve instead of a default 0.5 cutoff.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 and ML outputs run in parallel and are fused by the Risk Scorer for the final decision.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Model: Ultra-Deep 600-Tree Enterprise XGBoost Classifier.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Trained on 400,000 samples and evaluated on 100,000 held-out test transactions.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Extreme class imbalance (over 99.8% legitimate transactions) addressed with a cost-sensitive scale_pos_weight penalty.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 predictive features: receiver transaction count, fan-in/out ratio, log amount, corridor risk score, and currency mismatch.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Chosen over deep learning (ANN) for faster training on tabular data, native handling of categorical features, and exact feature-importance explainability required for regulatory audits.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Risk Scoring Engine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Final Risk Score is a weighted fusion of the Rule Score (R) and the ML Score (S).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R is 80 or above: Score = 0.50 x R + 0.50 x S. Otherwise: Score = 0.35 x R + 0.65 x 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CRITICAL (75+): instant SAR filing and account freeze alert.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(50-74): escalated to a senior compliance officer.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MEDIUM (25-49): flagged for batch audit review.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(below 25): normal automated clearance.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Dashboard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Dashboard: intercepted AML dollars, alert volumes, typology breakdown, and risk distribution.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Alert Triage Queue: investigate cases, update status (New / Under Investigation / Closed), and assign compliance officers.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Money Flow Graph: interactive Vis.js node-link visualization of circular routing, smurfing clusters, and counterparty paths.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Sandbox Tester: run custom transactions through the engine with instant risk decomposition.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SAR Filing: one-click, FinCEN-compliant Suspicious Activity Report generation.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SQLite 3 database in Write-Ahead Logging (WAL) mode for concurrent, low-latency access with no server setup.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tables: accounts, transactions, alerts, sar_reports, and system_metrics.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Indexed on sender account, receiver account, risk score, laundering flag, and date for fast query performance.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Schema is ANSI SQL-compatible, enabling straightforward migration to AWS RDS or Aurora for production scaling.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Model Performance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Evaluated on a test set of 100,000 transactions, with 400,000 used for training.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99.95% | ROC-AUC: 0.992 | PR-AUC: 0.693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Precision: 91.43% | Recall: 57.66% | F1-Score: 70.72%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Confusion Matrix: 64 true positives, 47 false negatives, 6 false positives, 99,883 true negatives.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precision keeps analyst workload low from false alarms, while the optimized decision threshold (0.9844) balances detection with investigator capacity.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Built a hybrid AML platform fusing rule-based heuristics and XGBoost ML for accurate, explainable transaction surveillance.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Achieved 99.95% accuracy and a 0.992 ROC-AUC while retaining regulatory-grade explainability.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Delivered an end-to-end system: ingestion, detection, risk scoring, dashboard, and SAR filing.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30000"/>
              </a:lnSpc>
              <a:spcBef>
                <a:spcPts val="8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Scope: Graph Neural Networks for deeper network-pattern detection, real-time Kafka streaming ingestion, multi-language SAR narrative generation, and cloud-native auto-scaling on AWS.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A62A602-78C1-468C-BB25-57CD481DB7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8018</Words>
  <Application>WPS Presentation</Application>
  <PresentationFormat>On-screen Show (4:3)</PresentationFormat>
  <Paragraphs>171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Yug Middha</cp:lastModifiedBy>
  <cp:revision>2297</cp:revision>
  <dcterms:created xsi:type="dcterms:W3CDTF">2010-04-09T07:36:00Z</dcterms:created>
  <dcterms:modified xsi:type="dcterms:W3CDTF">2026-09-07T05:54:55Z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1033-12.1.0.28485</vt:lpwstr>
  </property>
  <property fmtid="{D5CDD505-2E9C-101B-9397-08002B2CF9AE}" pid="15" name="ICV">
    <vt:lpwstr>61B834FD7D3B4330BB453B191F7020E8_12</vt:lpwstr>
  </property>
</Properties>
</file>